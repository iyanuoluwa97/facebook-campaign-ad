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d5b15f0a3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d5b15f0a3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72363054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72363054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d251bb473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d251bb473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d251bb473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d251bb473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8d88a495f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8d88a495f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e965474a9_3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e965474a9_3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cb9a0b074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cb9a0b074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723630543_1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723630543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cb9a0b074_1_1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cb9a0b074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000">
                <a:latin typeface="Georgia"/>
                <a:ea typeface="Georgia"/>
                <a:cs typeface="Georgia"/>
                <a:sym typeface="Georgia"/>
              </a:rPr>
              <a:t>Superhero U F</a:t>
            </a:r>
            <a:r>
              <a:rPr lang="en" sz="5000">
                <a:latin typeface="Georgia"/>
                <a:ea typeface="Georgia"/>
                <a:cs typeface="Georgia"/>
                <a:sym typeface="Georgia"/>
              </a:rPr>
              <a:t>acebook Campaign Ad Report</a:t>
            </a:r>
            <a:endParaRPr sz="5000">
              <a:latin typeface="Georgia"/>
              <a:ea typeface="Georgia"/>
              <a:cs typeface="Georgia"/>
              <a:sym typeface="Georgia"/>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500">
                <a:latin typeface="Georgia"/>
                <a:ea typeface="Georgia"/>
                <a:cs typeface="Georgia"/>
                <a:sym typeface="Georgia"/>
              </a:rPr>
              <a:t>By Group 14A</a:t>
            </a:r>
            <a:endParaRPr b="1" sz="2500">
              <a:latin typeface="Georgia"/>
              <a:ea typeface="Georgia"/>
              <a:cs typeface="Georgia"/>
              <a:sym typeface="Georgia"/>
            </a:endParaRPr>
          </a:p>
        </p:txBody>
      </p:sp>
      <p:pic>
        <p:nvPicPr>
          <p:cNvPr id="74" name="Google Shape;74;p13"/>
          <p:cNvPicPr preferRelativeResize="0"/>
          <p:nvPr/>
        </p:nvPicPr>
        <p:blipFill rotWithShape="1">
          <a:blip r:embed="rId3">
            <a:alphaModFix/>
          </a:blip>
          <a:srcRect b="82583" l="0" r="49584" t="8857"/>
          <a:stretch/>
        </p:blipFill>
        <p:spPr>
          <a:xfrm>
            <a:off x="242079" y="3238450"/>
            <a:ext cx="1936626" cy="154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4"/>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5000">
                <a:solidFill>
                  <a:schemeClr val="accent1"/>
                </a:solidFill>
                <a:latin typeface="Georgia"/>
                <a:ea typeface="Georgia"/>
                <a:cs typeface="Georgia"/>
                <a:sym typeface="Georgia"/>
              </a:rPr>
              <a:t>Group 14A</a:t>
            </a:r>
            <a:endParaRPr sz="3800">
              <a:solidFill>
                <a:schemeClr val="accent1"/>
              </a:solidFill>
              <a:latin typeface="Georgia"/>
              <a:ea typeface="Georgia"/>
              <a:cs typeface="Georgia"/>
              <a:sym typeface="Georgia"/>
            </a:endParaRPr>
          </a:p>
        </p:txBody>
      </p:sp>
      <p:sp>
        <p:nvSpPr>
          <p:cNvPr id="80" name="Google Shape;80;p14"/>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0" lang="en" sz="1800">
                <a:solidFill>
                  <a:schemeClr val="accent1"/>
                </a:solidFill>
                <a:latin typeface="Georgia"/>
                <a:ea typeface="Georgia"/>
                <a:cs typeface="Georgia"/>
                <a:sym typeface="Georgia"/>
              </a:rPr>
              <a:t>T</a:t>
            </a:r>
            <a:r>
              <a:rPr b="0" lang="en" sz="1800">
                <a:solidFill>
                  <a:schemeClr val="accent1"/>
                </a:solidFill>
                <a:latin typeface="Georgia"/>
                <a:ea typeface="Georgia"/>
                <a:cs typeface="Georgia"/>
                <a:sym typeface="Georgia"/>
              </a:rPr>
              <a:t>eam Lead - Kwarteng ….</a:t>
            </a:r>
            <a:endParaRPr b="0" sz="1800">
              <a:solidFill>
                <a:schemeClr val="accent1"/>
              </a:solidFill>
              <a:latin typeface="Georgia"/>
              <a:ea typeface="Georgia"/>
              <a:cs typeface="Georgia"/>
              <a:sym typeface="Georgia"/>
            </a:endParaRPr>
          </a:p>
          <a:p>
            <a:pPr indent="0" lvl="0" marL="0" rtl="0" algn="l">
              <a:lnSpc>
                <a:spcPct val="115000"/>
              </a:lnSpc>
              <a:spcBef>
                <a:spcPts val="1600"/>
              </a:spcBef>
              <a:spcAft>
                <a:spcPts val="1600"/>
              </a:spcAft>
              <a:buNone/>
            </a:pPr>
            <a:r>
              <a:t/>
            </a:r>
            <a:endParaRPr b="0" sz="1800">
              <a:solidFill>
                <a:schemeClr val="accent1"/>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4" name="Shape 84"/>
        <p:cNvGrpSpPr/>
        <p:nvPr/>
      </p:nvGrpSpPr>
      <p:grpSpPr>
        <a:xfrm>
          <a:off x="0" y="0"/>
          <a:ext cx="0" cy="0"/>
          <a:chOff x="0" y="0"/>
          <a:chExt cx="0" cy="0"/>
        </a:xfrm>
      </p:grpSpPr>
      <p:pic>
        <p:nvPicPr>
          <p:cNvPr id="85" name="Google Shape;85;p15"/>
          <p:cNvPicPr preferRelativeResize="0"/>
          <p:nvPr/>
        </p:nvPicPr>
        <p:blipFill>
          <a:blip r:embed="rId3">
            <a:alphaModFix/>
          </a:blip>
          <a:stretch>
            <a:fillRect/>
          </a:stretch>
        </p:blipFill>
        <p:spPr>
          <a:xfrm>
            <a:off x="4190525" y="0"/>
            <a:ext cx="5012950" cy="5143500"/>
          </a:xfrm>
          <a:prstGeom prst="rect">
            <a:avLst/>
          </a:prstGeom>
          <a:noFill/>
          <a:ln>
            <a:noFill/>
          </a:ln>
        </p:spPr>
      </p:pic>
      <p:sp>
        <p:nvSpPr>
          <p:cNvPr id="86" name="Google Shape;86;p15"/>
          <p:cNvSpPr txBox="1"/>
          <p:nvPr/>
        </p:nvSpPr>
        <p:spPr>
          <a:xfrm>
            <a:off x="4310900" y="417753"/>
            <a:ext cx="5246700" cy="512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accent1"/>
                </a:solidFill>
                <a:latin typeface="Georgia"/>
                <a:ea typeface="Georgia"/>
                <a:cs typeface="Georgia"/>
                <a:sym typeface="Georgia"/>
              </a:rPr>
              <a:t>SUPERHERO U EVENT</a:t>
            </a:r>
            <a:endParaRPr b="1" sz="3000">
              <a:solidFill>
                <a:schemeClr val="accent1"/>
              </a:solidFill>
              <a:latin typeface="Georgia"/>
              <a:ea typeface="Georgia"/>
              <a:cs typeface="Georgia"/>
              <a:sym typeface="Georgia"/>
            </a:endParaRPr>
          </a:p>
        </p:txBody>
      </p:sp>
      <p:sp>
        <p:nvSpPr>
          <p:cNvPr id="87" name="Google Shape;87;p15"/>
          <p:cNvSpPr txBox="1"/>
          <p:nvPr>
            <p:ph idx="4294967295" type="body"/>
          </p:nvPr>
        </p:nvSpPr>
        <p:spPr>
          <a:xfrm>
            <a:off x="4572000" y="1097282"/>
            <a:ext cx="40797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chemeClr val="accent1"/>
                </a:solidFill>
                <a:latin typeface="Georgia"/>
                <a:ea typeface="Georgia"/>
                <a:cs typeface="Georgia"/>
                <a:sym typeface="Georgia"/>
              </a:rPr>
              <a:t>Superhero U event is a competition targeted at Interns. A Facebook Ad was used for advertising the campaign, which is known as “Link click” ad, such that when a person clicks on the image it leads to the Superhero U website.</a:t>
            </a:r>
            <a:endParaRPr>
              <a:solidFill>
                <a:schemeClr val="accent1"/>
              </a:solidFill>
              <a:latin typeface="Georgia"/>
              <a:ea typeface="Georgia"/>
              <a:cs typeface="Georgia"/>
              <a:sym typeface="Georgia"/>
            </a:endParaRPr>
          </a:p>
        </p:txBody>
      </p:sp>
      <p:pic>
        <p:nvPicPr>
          <p:cNvPr id="88" name="Google Shape;88;p15"/>
          <p:cNvPicPr preferRelativeResize="0"/>
          <p:nvPr/>
        </p:nvPicPr>
        <p:blipFill>
          <a:blip r:embed="rId4">
            <a:alphaModFix/>
          </a:blip>
          <a:stretch>
            <a:fillRect/>
          </a:stretch>
        </p:blipFill>
        <p:spPr>
          <a:xfrm>
            <a:off x="237500" y="162725"/>
            <a:ext cx="3842201" cy="48180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p16"/>
          <p:cNvSpPr txBox="1"/>
          <p:nvPr>
            <p:ph type="title"/>
          </p:nvPr>
        </p:nvSpPr>
        <p:spPr>
          <a:xfrm>
            <a:off x="256200" y="346755"/>
            <a:ext cx="8631600" cy="38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chemeClr val="accent1"/>
                </a:solidFill>
                <a:latin typeface="Georgia"/>
                <a:ea typeface="Georgia"/>
                <a:cs typeface="Georgia"/>
                <a:sym typeface="Georgia"/>
              </a:rPr>
              <a:t>FACEBOOK AD:</a:t>
            </a:r>
            <a:endParaRPr sz="5000">
              <a:solidFill>
                <a:schemeClr val="accent1"/>
              </a:solidFill>
              <a:latin typeface="Georgia"/>
              <a:ea typeface="Georgia"/>
              <a:cs typeface="Georgia"/>
              <a:sym typeface="Georgia"/>
            </a:endParaRPr>
          </a:p>
          <a:p>
            <a:pPr indent="0" lvl="0" marL="0" rtl="0" algn="l">
              <a:spcBef>
                <a:spcPts val="0"/>
              </a:spcBef>
              <a:spcAft>
                <a:spcPts val="0"/>
              </a:spcAft>
              <a:buNone/>
            </a:pPr>
            <a:r>
              <a:rPr b="0" lang="en" sz="1800">
                <a:solidFill>
                  <a:schemeClr val="accent1"/>
                </a:solidFill>
                <a:latin typeface="Georgia"/>
                <a:ea typeface="Georgia"/>
                <a:cs typeface="Georgia"/>
                <a:sym typeface="Georgia"/>
              </a:rPr>
              <a:t>Facebook ads which is short for Facebook Advertising are paid promotional content that businesses or individuals can create to advertise their products, services, or brand on Facebook. There are various ad formats to choose from, and advertisers can target their ads to specific demographics, interests, behaviors, and location. Facebook ads can be seen on Facebook, properties, other websites, and mobile apps. Advertisers can use Facebook's Ads Manager tool to monitor ad performance and optimize their campaigns for better results.</a:t>
            </a:r>
            <a:endParaRPr b="0" sz="1800">
              <a:solidFill>
                <a:schemeClr val="accent1"/>
              </a:solidFill>
              <a:latin typeface="Georgia"/>
              <a:ea typeface="Georgia"/>
              <a:cs typeface="Georgia"/>
              <a:sym typeface="Georgia"/>
            </a:endParaRPr>
          </a:p>
          <a:p>
            <a:pPr indent="0" lvl="0" marL="0" rtl="0" algn="l">
              <a:spcBef>
                <a:spcPts val="0"/>
              </a:spcBef>
              <a:spcAft>
                <a:spcPts val="0"/>
              </a:spcAft>
              <a:buNone/>
            </a:pPr>
            <a:r>
              <a:t/>
            </a:r>
            <a:endParaRPr>
              <a:solidFill>
                <a:schemeClr val="accent1"/>
              </a:solidFill>
              <a:latin typeface="Georgia"/>
              <a:ea typeface="Georgia"/>
              <a:cs typeface="Georgia"/>
              <a:sym typeface="Georgia"/>
            </a:endParaRPr>
          </a:p>
        </p:txBody>
      </p:sp>
      <p:pic>
        <p:nvPicPr>
          <p:cNvPr id="94" name="Google Shape;94;p16"/>
          <p:cNvPicPr preferRelativeResize="0"/>
          <p:nvPr/>
        </p:nvPicPr>
        <p:blipFill>
          <a:blip r:embed="rId3">
            <a:alphaModFix/>
          </a:blip>
          <a:stretch>
            <a:fillRect/>
          </a:stretch>
        </p:blipFill>
        <p:spPr>
          <a:xfrm>
            <a:off x="5830550" y="3472525"/>
            <a:ext cx="3057250" cy="1566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8" name="Shape 98"/>
        <p:cNvGrpSpPr/>
        <p:nvPr/>
      </p:nvGrpSpPr>
      <p:grpSpPr>
        <a:xfrm>
          <a:off x="0" y="0"/>
          <a:ext cx="0" cy="0"/>
          <a:chOff x="0" y="0"/>
          <a:chExt cx="0" cy="0"/>
        </a:xfrm>
      </p:grpSpPr>
      <p:sp>
        <p:nvSpPr>
          <p:cNvPr id="99" name="Google Shape;99;p17"/>
          <p:cNvSpPr txBox="1"/>
          <p:nvPr>
            <p:ph type="title"/>
          </p:nvPr>
        </p:nvSpPr>
        <p:spPr>
          <a:xfrm>
            <a:off x="195500" y="78325"/>
            <a:ext cx="8753100" cy="1592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3400">
                <a:latin typeface="Georgia"/>
                <a:ea typeface="Georgia"/>
                <a:cs typeface="Georgia"/>
                <a:sym typeface="Georgia"/>
              </a:rPr>
              <a:t>OVERVIEW OF ALL CAMPAIGN ADS</a:t>
            </a:r>
            <a:endParaRPr sz="3400">
              <a:latin typeface="Georgia"/>
              <a:ea typeface="Georgia"/>
              <a:cs typeface="Georgia"/>
              <a:sym typeface="Georgia"/>
            </a:endParaRPr>
          </a:p>
          <a:p>
            <a:pPr indent="0" lvl="0" marL="0" rtl="0" algn="just">
              <a:spcBef>
                <a:spcPts val="1000"/>
              </a:spcBef>
              <a:spcAft>
                <a:spcPts val="1000"/>
              </a:spcAft>
              <a:buNone/>
            </a:pPr>
            <a:r>
              <a:rPr b="0" lang="en" sz="1800">
                <a:latin typeface="Georgia"/>
                <a:ea typeface="Georgia"/>
                <a:cs typeface="Georgia"/>
                <a:sym typeface="Georgia"/>
              </a:rPr>
              <a:t>Here is an overview of all Superhero U campaign ads that was carried out by the </a:t>
            </a:r>
            <a:r>
              <a:rPr b="0" lang="en" sz="1800">
                <a:latin typeface="Georgia"/>
                <a:ea typeface="Georgia"/>
                <a:cs typeface="Georgia"/>
                <a:sym typeface="Georgia"/>
              </a:rPr>
              <a:t>marketing</a:t>
            </a:r>
            <a:r>
              <a:rPr b="0" lang="en" sz="1800">
                <a:latin typeface="Georgia"/>
                <a:ea typeface="Georgia"/>
                <a:cs typeface="Georgia"/>
                <a:sym typeface="Georgia"/>
              </a:rPr>
              <a:t> team:</a:t>
            </a:r>
            <a:endParaRPr b="0" sz="2400"/>
          </a:p>
        </p:txBody>
      </p:sp>
      <p:pic>
        <p:nvPicPr>
          <p:cNvPr id="100" name="Google Shape;100;p17"/>
          <p:cNvPicPr preferRelativeResize="0"/>
          <p:nvPr/>
        </p:nvPicPr>
        <p:blipFill rotWithShape="1">
          <a:blip r:embed="rId3">
            <a:alphaModFix/>
          </a:blip>
          <a:srcRect b="19613" l="28002" r="32347" t="21736"/>
          <a:stretch/>
        </p:blipFill>
        <p:spPr>
          <a:xfrm>
            <a:off x="261100" y="1449050"/>
            <a:ext cx="8616001" cy="35769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4" name="Shape 104"/>
        <p:cNvGrpSpPr/>
        <p:nvPr/>
      </p:nvGrpSpPr>
      <p:grpSpPr>
        <a:xfrm>
          <a:off x="0" y="0"/>
          <a:ext cx="0" cy="0"/>
          <a:chOff x="0" y="0"/>
          <a:chExt cx="0" cy="0"/>
        </a:xfrm>
      </p:grpSpPr>
      <p:sp>
        <p:nvSpPr>
          <p:cNvPr id="105" name="Google Shape;105;p1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6" name="Google Shape;106;p18"/>
          <p:cNvPicPr preferRelativeResize="0"/>
          <p:nvPr/>
        </p:nvPicPr>
        <p:blipFill rotWithShape="1">
          <a:blip r:embed="rId3">
            <a:alphaModFix/>
          </a:blip>
          <a:srcRect b="12443" l="27838" r="32473" t="22104"/>
          <a:stretch/>
        </p:blipFill>
        <p:spPr>
          <a:xfrm>
            <a:off x="159550" y="121250"/>
            <a:ext cx="8824900" cy="4901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10" name="Shape 110"/>
        <p:cNvGrpSpPr/>
        <p:nvPr/>
      </p:nvGrpSpPr>
      <p:grpSpPr>
        <a:xfrm>
          <a:off x="0" y="0"/>
          <a:ext cx="0" cy="0"/>
          <a:chOff x="0" y="0"/>
          <a:chExt cx="0" cy="0"/>
        </a:xfrm>
      </p:grpSpPr>
      <p:sp>
        <p:nvSpPr>
          <p:cNvPr id="111" name="Google Shape;111;p19"/>
          <p:cNvSpPr txBox="1"/>
          <p:nvPr>
            <p:ph type="title"/>
          </p:nvPr>
        </p:nvSpPr>
        <p:spPr>
          <a:xfrm>
            <a:off x="0" y="966050"/>
            <a:ext cx="2741400" cy="2637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0" lang="en" sz="1800">
                <a:solidFill>
                  <a:schemeClr val="lt1"/>
                </a:solidFill>
                <a:latin typeface="Georgia"/>
                <a:ea typeface="Georgia"/>
                <a:cs typeface="Georgia"/>
                <a:sym typeface="Georgia"/>
              </a:rPr>
              <a:t>The graph shows the relationship between campaign reach and impression by each campaign ID, </a:t>
            </a:r>
            <a:r>
              <a:rPr b="0" lang="en" sz="1800">
                <a:solidFill>
                  <a:schemeClr val="lt1"/>
                </a:solidFill>
                <a:latin typeface="Georgia"/>
                <a:ea typeface="Georgia"/>
                <a:cs typeface="Georgia"/>
                <a:sym typeface="Georgia"/>
              </a:rPr>
              <a:t>revealing</a:t>
            </a:r>
            <a:r>
              <a:rPr b="0" lang="en" sz="1800">
                <a:solidFill>
                  <a:schemeClr val="lt1"/>
                </a:solidFill>
                <a:latin typeface="Georgia"/>
                <a:ea typeface="Georgia"/>
                <a:cs typeface="Georgia"/>
                <a:sym typeface="Georgia"/>
              </a:rPr>
              <a:t> that campaign 3 and 11 has the least amount of clicks </a:t>
            </a:r>
            <a:r>
              <a:rPr b="0" lang="en" sz="1800">
                <a:solidFill>
                  <a:schemeClr val="lt1"/>
                </a:solidFill>
                <a:latin typeface="Georgia"/>
                <a:ea typeface="Georgia"/>
                <a:cs typeface="Georgia"/>
                <a:sym typeface="Georgia"/>
              </a:rPr>
              <a:t>and</a:t>
            </a:r>
            <a:r>
              <a:rPr b="0" lang="en" sz="1800">
                <a:solidFill>
                  <a:schemeClr val="lt1"/>
                </a:solidFill>
                <a:latin typeface="Georgia"/>
                <a:ea typeface="Georgia"/>
                <a:cs typeface="Georgia"/>
                <a:sym typeface="Georgia"/>
              </a:rPr>
              <a:t> impression as shown within the red box.</a:t>
            </a:r>
            <a:endParaRPr b="0" sz="1800">
              <a:solidFill>
                <a:schemeClr val="lt1"/>
              </a:solidFill>
              <a:latin typeface="Georgia"/>
              <a:ea typeface="Georgia"/>
              <a:cs typeface="Georgia"/>
              <a:sym typeface="Georgia"/>
            </a:endParaRPr>
          </a:p>
        </p:txBody>
      </p:sp>
      <p:pic>
        <p:nvPicPr>
          <p:cNvPr id="112" name="Google Shape;112;p19"/>
          <p:cNvPicPr preferRelativeResize="0"/>
          <p:nvPr/>
        </p:nvPicPr>
        <p:blipFill rotWithShape="1">
          <a:blip r:embed="rId3">
            <a:alphaModFix/>
          </a:blip>
          <a:srcRect b="6716" l="3796" r="8547" t="0"/>
          <a:stretch/>
        </p:blipFill>
        <p:spPr>
          <a:xfrm>
            <a:off x="2663125" y="0"/>
            <a:ext cx="6480876" cy="5287101"/>
          </a:xfrm>
          <a:prstGeom prst="rect">
            <a:avLst/>
          </a:prstGeom>
          <a:noFill/>
          <a:ln>
            <a:noFill/>
          </a:ln>
        </p:spPr>
      </p:pic>
      <p:cxnSp>
        <p:nvCxnSpPr>
          <p:cNvPr id="113" name="Google Shape;113;p19"/>
          <p:cNvCxnSpPr/>
          <p:nvPr/>
        </p:nvCxnSpPr>
        <p:spPr>
          <a:xfrm>
            <a:off x="8015500" y="3720550"/>
            <a:ext cx="0" cy="1188300"/>
          </a:xfrm>
          <a:prstGeom prst="straightConnector1">
            <a:avLst/>
          </a:prstGeom>
          <a:noFill/>
          <a:ln cap="flat" cmpd="sng" w="38100">
            <a:solidFill>
              <a:srgbClr val="FF0000"/>
            </a:solidFill>
            <a:prstDash val="solid"/>
            <a:round/>
            <a:headEnd len="med" w="med" type="none"/>
            <a:tailEnd len="med" w="med" type="none"/>
          </a:ln>
        </p:spPr>
      </p:cxnSp>
      <p:cxnSp>
        <p:nvCxnSpPr>
          <p:cNvPr id="114" name="Google Shape;114;p19"/>
          <p:cNvCxnSpPr/>
          <p:nvPr/>
        </p:nvCxnSpPr>
        <p:spPr>
          <a:xfrm>
            <a:off x="8015500" y="3707500"/>
            <a:ext cx="1057500" cy="26100"/>
          </a:xfrm>
          <a:prstGeom prst="straightConnector1">
            <a:avLst/>
          </a:prstGeom>
          <a:noFill/>
          <a:ln cap="flat" cmpd="sng" w="38100">
            <a:solidFill>
              <a:srgbClr val="FF0000"/>
            </a:solidFill>
            <a:prstDash val="solid"/>
            <a:round/>
            <a:headEnd len="med" w="med" type="none"/>
            <a:tailEnd len="med" w="med" type="none"/>
          </a:ln>
        </p:spPr>
      </p:cxnSp>
      <p:cxnSp>
        <p:nvCxnSpPr>
          <p:cNvPr id="115" name="Google Shape;115;p19"/>
          <p:cNvCxnSpPr/>
          <p:nvPr/>
        </p:nvCxnSpPr>
        <p:spPr>
          <a:xfrm flipH="1">
            <a:off x="9020725" y="3668325"/>
            <a:ext cx="52200" cy="1221000"/>
          </a:xfrm>
          <a:prstGeom prst="straightConnector1">
            <a:avLst/>
          </a:prstGeom>
          <a:noFill/>
          <a:ln cap="flat" cmpd="sng" w="38100">
            <a:solidFill>
              <a:srgbClr val="FF0000"/>
            </a:solidFill>
            <a:prstDash val="solid"/>
            <a:round/>
            <a:headEnd len="med" w="med" type="none"/>
            <a:tailEnd len="med" w="med" type="none"/>
          </a:ln>
        </p:spPr>
      </p:cxnSp>
      <p:sp>
        <p:nvSpPr>
          <p:cNvPr id="116" name="Google Shape;116;p19"/>
          <p:cNvSpPr txBox="1"/>
          <p:nvPr/>
        </p:nvSpPr>
        <p:spPr>
          <a:xfrm>
            <a:off x="45750" y="300275"/>
            <a:ext cx="26499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1"/>
                </a:solidFill>
                <a:latin typeface="Georgia"/>
                <a:ea typeface="Georgia"/>
                <a:cs typeface="Georgia"/>
                <a:sym typeface="Georgia"/>
              </a:rPr>
              <a:t>VISUALIZATION 1:</a:t>
            </a:r>
            <a:endParaRPr b="1" sz="1900">
              <a:solidFill>
                <a:schemeClr val="lt1"/>
              </a:solidFill>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 name="Shape 120"/>
        <p:cNvGrpSpPr/>
        <p:nvPr/>
      </p:nvGrpSpPr>
      <p:grpSpPr>
        <a:xfrm>
          <a:off x="0" y="0"/>
          <a:ext cx="0" cy="0"/>
          <a:chOff x="0" y="0"/>
          <a:chExt cx="0" cy="0"/>
        </a:xfrm>
      </p:grpSpPr>
      <p:pic>
        <p:nvPicPr>
          <p:cNvPr id="121" name="Google Shape;121;p20"/>
          <p:cNvPicPr preferRelativeResize="0"/>
          <p:nvPr/>
        </p:nvPicPr>
        <p:blipFill rotWithShape="1">
          <a:blip r:embed="rId3">
            <a:alphaModFix/>
          </a:blip>
          <a:srcRect b="0" l="11715" r="11715" t="0"/>
          <a:stretch/>
        </p:blipFill>
        <p:spPr>
          <a:xfrm>
            <a:off x="2232325" y="313300"/>
            <a:ext cx="6762250" cy="4582174"/>
          </a:xfrm>
          <a:prstGeom prst="rect">
            <a:avLst/>
          </a:prstGeom>
          <a:noFill/>
          <a:ln>
            <a:noFill/>
          </a:ln>
        </p:spPr>
      </p:pic>
      <p:sp>
        <p:nvSpPr>
          <p:cNvPr id="122" name="Google Shape;122;p20"/>
          <p:cNvSpPr txBox="1"/>
          <p:nvPr>
            <p:ph idx="1" type="body"/>
          </p:nvPr>
        </p:nvSpPr>
        <p:spPr>
          <a:xfrm>
            <a:off x="123675" y="1201000"/>
            <a:ext cx="2004300" cy="3994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Clr>
                <a:schemeClr val="dk2"/>
              </a:buClr>
              <a:buSzPts val="1100"/>
              <a:buFont typeface="Arial"/>
              <a:buNone/>
            </a:pPr>
            <a:r>
              <a:rPr lang="en" sz="1800">
                <a:solidFill>
                  <a:schemeClr val="accent1"/>
                </a:solidFill>
                <a:latin typeface="Georgia"/>
                <a:ea typeface="Georgia"/>
                <a:cs typeface="Georgia"/>
                <a:sym typeface="Georgia"/>
              </a:rPr>
              <a:t>This graph shows the relationship between the cost per result and the cost per click by each campaign ads. Revealing that Campaign 3,10 and 11 cost us so much as shown in the red box.</a:t>
            </a:r>
            <a:endParaRPr sz="1800">
              <a:solidFill>
                <a:schemeClr val="accent1"/>
              </a:solidFill>
              <a:latin typeface="Georgia"/>
              <a:ea typeface="Georgia"/>
              <a:cs typeface="Georgia"/>
              <a:sym typeface="Georgia"/>
            </a:endParaRPr>
          </a:p>
        </p:txBody>
      </p:sp>
      <p:cxnSp>
        <p:nvCxnSpPr>
          <p:cNvPr id="123" name="Google Shape;123;p20"/>
          <p:cNvCxnSpPr/>
          <p:nvPr/>
        </p:nvCxnSpPr>
        <p:spPr>
          <a:xfrm flipH="1" rot="10800000">
            <a:off x="2545800" y="1057500"/>
            <a:ext cx="12900" cy="3603000"/>
          </a:xfrm>
          <a:prstGeom prst="straightConnector1">
            <a:avLst/>
          </a:prstGeom>
          <a:noFill/>
          <a:ln cap="flat" cmpd="sng" w="38100">
            <a:solidFill>
              <a:srgbClr val="FF0000"/>
            </a:solidFill>
            <a:prstDash val="solid"/>
            <a:round/>
            <a:headEnd len="med" w="med" type="none"/>
            <a:tailEnd len="med" w="med" type="none"/>
          </a:ln>
        </p:spPr>
      </p:cxnSp>
      <p:cxnSp>
        <p:nvCxnSpPr>
          <p:cNvPr id="124" name="Google Shape;124;p20"/>
          <p:cNvCxnSpPr/>
          <p:nvPr/>
        </p:nvCxnSpPr>
        <p:spPr>
          <a:xfrm rot="10800000">
            <a:off x="4242750" y="1018200"/>
            <a:ext cx="52200" cy="3720600"/>
          </a:xfrm>
          <a:prstGeom prst="straightConnector1">
            <a:avLst/>
          </a:prstGeom>
          <a:noFill/>
          <a:ln cap="flat" cmpd="sng" w="38100">
            <a:solidFill>
              <a:srgbClr val="FF0000"/>
            </a:solidFill>
            <a:prstDash val="solid"/>
            <a:round/>
            <a:headEnd len="med" w="med" type="none"/>
            <a:tailEnd len="med" w="med" type="none"/>
          </a:ln>
        </p:spPr>
      </p:cxnSp>
      <p:cxnSp>
        <p:nvCxnSpPr>
          <p:cNvPr id="125" name="Google Shape;125;p20"/>
          <p:cNvCxnSpPr/>
          <p:nvPr/>
        </p:nvCxnSpPr>
        <p:spPr>
          <a:xfrm rot="10800000">
            <a:off x="2532600" y="1044375"/>
            <a:ext cx="1723200" cy="0"/>
          </a:xfrm>
          <a:prstGeom prst="straightConnector1">
            <a:avLst/>
          </a:prstGeom>
          <a:noFill/>
          <a:ln cap="flat" cmpd="sng" w="38100">
            <a:solidFill>
              <a:srgbClr val="FF0000"/>
            </a:solidFill>
            <a:prstDash val="solid"/>
            <a:round/>
            <a:headEnd len="med" w="med" type="none"/>
            <a:tailEnd len="med" w="med" type="none"/>
          </a:ln>
        </p:spPr>
      </p:cxnSp>
      <p:sp>
        <p:nvSpPr>
          <p:cNvPr id="126" name="Google Shape;126;p20"/>
          <p:cNvSpPr txBox="1"/>
          <p:nvPr/>
        </p:nvSpPr>
        <p:spPr>
          <a:xfrm>
            <a:off x="0" y="774375"/>
            <a:ext cx="29244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accent1"/>
                </a:solidFill>
                <a:latin typeface="Georgia"/>
                <a:ea typeface="Georgia"/>
                <a:cs typeface="Georgia"/>
                <a:sym typeface="Georgia"/>
              </a:rPr>
              <a:t>VISUALIZATION 2:</a:t>
            </a:r>
            <a:endParaRPr b="1" sz="1900">
              <a:solidFill>
                <a:schemeClr val="accent1"/>
              </a:solidFill>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30" name="Shape 130"/>
        <p:cNvGrpSpPr/>
        <p:nvPr/>
      </p:nvGrpSpPr>
      <p:grpSpPr>
        <a:xfrm>
          <a:off x="0" y="0"/>
          <a:ext cx="0" cy="0"/>
          <a:chOff x="0" y="0"/>
          <a:chExt cx="0" cy="0"/>
        </a:xfrm>
      </p:grpSpPr>
      <p:pic>
        <p:nvPicPr>
          <p:cNvPr id="131" name="Google Shape;131;p21"/>
          <p:cNvPicPr preferRelativeResize="0"/>
          <p:nvPr/>
        </p:nvPicPr>
        <p:blipFill rotWithShape="1">
          <a:blip r:embed="rId3">
            <a:alphaModFix/>
          </a:blip>
          <a:srcRect b="0" l="6370" r="6726" t="0"/>
          <a:stretch/>
        </p:blipFill>
        <p:spPr>
          <a:xfrm>
            <a:off x="117500" y="182775"/>
            <a:ext cx="6588375" cy="4791025"/>
          </a:xfrm>
          <a:prstGeom prst="rect">
            <a:avLst/>
          </a:prstGeom>
          <a:noFill/>
          <a:ln>
            <a:noFill/>
          </a:ln>
        </p:spPr>
      </p:pic>
      <p:sp>
        <p:nvSpPr>
          <p:cNvPr id="132" name="Google Shape;132;p21"/>
          <p:cNvSpPr txBox="1"/>
          <p:nvPr>
            <p:ph idx="1" type="body"/>
          </p:nvPr>
        </p:nvSpPr>
        <p:spPr>
          <a:xfrm>
            <a:off x="6762275" y="874650"/>
            <a:ext cx="2297700" cy="419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Georgia"/>
                <a:ea typeface="Georgia"/>
                <a:cs typeface="Georgia"/>
                <a:sym typeface="Georgia"/>
              </a:rPr>
              <a:t>The graph reveals the relationship between different age groups that were reached by each individual campaign ad.</a:t>
            </a:r>
            <a:endParaRPr sz="1700">
              <a:solidFill>
                <a:schemeClr val="lt1"/>
              </a:solidFill>
              <a:latin typeface="Georgia"/>
              <a:ea typeface="Georgia"/>
              <a:cs typeface="Georgia"/>
              <a:sym typeface="Georgia"/>
            </a:endParaRPr>
          </a:p>
          <a:p>
            <a:pPr indent="0" lvl="0" marL="0" rtl="0" algn="l">
              <a:spcBef>
                <a:spcPts val="1600"/>
              </a:spcBef>
              <a:spcAft>
                <a:spcPts val="1600"/>
              </a:spcAft>
              <a:buNone/>
            </a:pPr>
            <a:r>
              <a:rPr lang="en" sz="1700">
                <a:solidFill>
                  <a:schemeClr val="lt1"/>
                </a:solidFill>
                <a:latin typeface="Georgia"/>
                <a:ea typeface="Georgia"/>
                <a:cs typeface="Georgia"/>
                <a:sym typeface="Georgia"/>
              </a:rPr>
              <a:t>It is seen that campaign 3(deep purple in colour) and </a:t>
            </a:r>
            <a:r>
              <a:rPr lang="en" sz="1700">
                <a:solidFill>
                  <a:schemeClr val="lt1"/>
                </a:solidFill>
                <a:latin typeface="Georgia"/>
                <a:ea typeface="Georgia"/>
                <a:cs typeface="Georgia"/>
                <a:sym typeface="Georgia"/>
              </a:rPr>
              <a:t>campaign</a:t>
            </a:r>
            <a:r>
              <a:rPr lang="en" sz="1700">
                <a:solidFill>
                  <a:schemeClr val="lt1"/>
                </a:solidFill>
                <a:latin typeface="Georgia"/>
                <a:ea typeface="Georgia"/>
                <a:cs typeface="Georgia"/>
                <a:sym typeface="Georgia"/>
              </a:rPr>
              <a:t> 11(green) had the lowest reach across just 1 age group as shown with the red arrows.</a:t>
            </a:r>
            <a:endParaRPr sz="1700">
              <a:solidFill>
                <a:schemeClr val="lt1"/>
              </a:solidFill>
              <a:latin typeface="Georgia"/>
              <a:ea typeface="Georgia"/>
              <a:cs typeface="Georgia"/>
              <a:sym typeface="Georgia"/>
            </a:endParaRPr>
          </a:p>
        </p:txBody>
      </p:sp>
      <p:sp>
        <p:nvSpPr>
          <p:cNvPr id="133" name="Google Shape;133;p21"/>
          <p:cNvSpPr txBox="1"/>
          <p:nvPr/>
        </p:nvSpPr>
        <p:spPr>
          <a:xfrm>
            <a:off x="6710075" y="182775"/>
            <a:ext cx="24021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eorgia"/>
                <a:ea typeface="Georgia"/>
                <a:cs typeface="Georgia"/>
                <a:sym typeface="Georgia"/>
              </a:rPr>
              <a:t>VISUALIZATION 3:</a:t>
            </a:r>
            <a:endParaRPr b="1" sz="1700">
              <a:solidFill>
                <a:schemeClr val="lt1"/>
              </a:solidFill>
              <a:latin typeface="Georgia"/>
              <a:ea typeface="Georgia"/>
              <a:cs typeface="Georgia"/>
              <a:sym typeface="Georgia"/>
            </a:endParaRPr>
          </a:p>
        </p:txBody>
      </p:sp>
      <p:sp>
        <p:nvSpPr>
          <p:cNvPr id="134" name="Google Shape;134;p21"/>
          <p:cNvSpPr/>
          <p:nvPr/>
        </p:nvSpPr>
        <p:spPr>
          <a:xfrm>
            <a:off x="2924225" y="2246469"/>
            <a:ext cx="1719950" cy="2144200"/>
          </a:xfrm>
          <a:custGeom>
            <a:rect b="b" l="l" r="r" t="t"/>
            <a:pathLst>
              <a:path extrusionOk="0" h="85768" w="68798">
                <a:moveTo>
                  <a:pt x="0" y="68885"/>
                </a:moveTo>
                <a:cubicBezTo>
                  <a:pt x="1741" y="71235"/>
                  <a:pt x="-87" y="93166"/>
                  <a:pt x="10444" y="82983"/>
                </a:cubicBezTo>
                <a:cubicBezTo>
                  <a:pt x="20975" y="72800"/>
                  <a:pt x="53698" y="21192"/>
                  <a:pt x="63184" y="7789"/>
                </a:cubicBezTo>
                <a:cubicBezTo>
                  <a:pt x="72670" y="-5614"/>
                  <a:pt x="66666" y="3437"/>
                  <a:pt x="67362" y="2567"/>
                </a:cubicBezTo>
              </a:path>
            </a:pathLst>
          </a:custGeom>
          <a:noFill/>
          <a:ln cap="flat" cmpd="sng" w="38100">
            <a:solidFill>
              <a:srgbClr val="FF0000"/>
            </a:solidFill>
            <a:prstDash val="solid"/>
            <a:round/>
            <a:headEnd len="med" w="med" type="none"/>
            <a:tailEnd len="med" w="med" type="none"/>
          </a:ln>
        </p:spPr>
      </p:sp>
      <p:sp>
        <p:nvSpPr>
          <p:cNvPr id="135" name="Google Shape;135;p21"/>
          <p:cNvSpPr/>
          <p:nvPr/>
        </p:nvSpPr>
        <p:spPr>
          <a:xfrm>
            <a:off x="2597850" y="2950098"/>
            <a:ext cx="456925" cy="979325"/>
          </a:xfrm>
          <a:custGeom>
            <a:rect b="b" l="l" r="r" t="t"/>
            <a:pathLst>
              <a:path extrusionOk="0" h="39173" w="18277">
                <a:moveTo>
                  <a:pt x="18277" y="39173"/>
                </a:moveTo>
                <a:cubicBezTo>
                  <a:pt x="16101" y="32646"/>
                  <a:pt x="8268" y="618"/>
                  <a:pt x="5222" y="9"/>
                </a:cubicBezTo>
                <a:cubicBezTo>
                  <a:pt x="2176" y="-600"/>
                  <a:pt x="870" y="29600"/>
                  <a:pt x="0" y="35518"/>
                </a:cubicBezTo>
              </a:path>
            </a:pathLst>
          </a:custGeom>
          <a:noFill/>
          <a:ln cap="flat" cmpd="sng" w="38100">
            <a:solidFill>
              <a:srgbClr val="FF0000"/>
            </a:solidFill>
            <a:prstDash val="solid"/>
            <a:round/>
            <a:headEnd len="med" w="med" type="none"/>
            <a:tailEnd len="med" w="med" type="none"/>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sp>
        <p:nvSpPr>
          <p:cNvPr id="140" name="Google Shape;140;p22"/>
          <p:cNvSpPr txBox="1"/>
          <p:nvPr>
            <p:ph idx="1" type="subTitle"/>
          </p:nvPr>
        </p:nvSpPr>
        <p:spPr>
          <a:xfrm>
            <a:off x="283100" y="653700"/>
            <a:ext cx="4045200" cy="38361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3900">
                <a:solidFill>
                  <a:schemeClr val="accent1"/>
                </a:solidFill>
                <a:latin typeface="Georgia"/>
                <a:ea typeface="Georgia"/>
                <a:cs typeface="Georgia"/>
                <a:sym typeface="Georgia"/>
              </a:rPr>
              <a:t>CONCLUSION:</a:t>
            </a:r>
            <a:endParaRPr b="1" sz="3900">
              <a:solidFill>
                <a:schemeClr val="accent1"/>
              </a:solidFill>
              <a:latin typeface="Georgia"/>
              <a:ea typeface="Georgia"/>
              <a:cs typeface="Georgia"/>
              <a:sym typeface="Georgia"/>
            </a:endParaRPr>
          </a:p>
          <a:p>
            <a:pPr indent="0" lvl="0" marL="0" rtl="0" algn="l">
              <a:lnSpc>
                <a:spcPct val="115000"/>
              </a:lnSpc>
              <a:spcBef>
                <a:spcPts val="1600"/>
              </a:spcBef>
              <a:spcAft>
                <a:spcPts val="1600"/>
              </a:spcAft>
              <a:buNone/>
            </a:pPr>
            <a:r>
              <a:rPr lang="en" sz="1800">
                <a:solidFill>
                  <a:schemeClr val="accent1"/>
                </a:solidFill>
                <a:latin typeface="Georgia"/>
                <a:ea typeface="Georgia"/>
                <a:cs typeface="Georgia"/>
                <a:sym typeface="Georgia"/>
              </a:rPr>
              <a:t>Based on Visualization 1, 2 and 3; it is advised to discontinue campaigns 3 and campaign 11 as they have the least reach(Visualization 1,3) and the highest cost per click and per result(Visualization 2).</a:t>
            </a:r>
            <a:endParaRPr sz="1800">
              <a:solidFill>
                <a:schemeClr val="accent1"/>
              </a:solidFill>
              <a:latin typeface="Georgia"/>
              <a:ea typeface="Georgia"/>
              <a:cs typeface="Georgia"/>
              <a:sym typeface="Georgia"/>
            </a:endParaRPr>
          </a:p>
        </p:txBody>
      </p:sp>
      <p:sp>
        <p:nvSpPr>
          <p:cNvPr id="141" name="Google Shape;141;p22"/>
          <p:cNvSpPr/>
          <p:nvPr/>
        </p:nvSpPr>
        <p:spPr>
          <a:xfrm>
            <a:off x="4488725" y="0"/>
            <a:ext cx="4655273" cy="5143506"/>
          </a:xfrm>
          <a:prstGeom prst="rect">
            <a:avLst/>
          </a:prstGeom>
          <a:noFill/>
          <a:ln>
            <a:noFill/>
          </a:ln>
        </p:spPr>
      </p:sp>
      <p:pic>
        <p:nvPicPr>
          <p:cNvPr id="142" name="Google Shape;142;p22"/>
          <p:cNvPicPr preferRelativeResize="0"/>
          <p:nvPr/>
        </p:nvPicPr>
        <p:blipFill rotWithShape="1">
          <a:blip r:embed="rId3">
            <a:alphaModFix/>
          </a:blip>
          <a:srcRect b="8270" l="0" r="-6259" t="75184"/>
          <a:stretch/>
        </p:blipFill>
        <p:spPr>
          <a:xfrm>
            <a:off x="4328300" y="0"/>
            <a:ext cx="5141299"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